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9144000" cy="5143500" type="screen16x9"/>
  <p:notesSz cx="5143500" cy="9144000"/>
  <p:embeddedFontLst>
    <p:embeddedFont>
      <p:font typeface="Crimson Pro SemiBold" panose="020B0604020202020204" charset="0"/>
      <p:regular r:id="rId17"/>
    </p:embeddedFont>
    <p:embeddedFont>
      <p:font typeface="Heebo" pitchFamily="2" charset="-79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7387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eswa.2024.123561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github.com/okerasar/CTOP-Proble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708770"/>
            <a:ext cx="752750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Capacitated Team Orienteering Problem (CTOP)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435275"/>
            <a:ext cx="8151763" cy="999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Clarke-Wright Savings + Hybrid Adaptive Large Neighbourhood Search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Team: Georgios Moschovis, Odysseas Kerasaridis, Andreas Nikolaos Kyprianou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AUEB | Operations Research &amp; Computational Intelligence | 26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013"/>
            <a:ext cx="4191149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HALNS Solution Methodology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973336"/>
            <a:ext cx="8608963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Algorithm Pipeline: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66825"/>
            <a:ext cx="4075881" cy="4819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6595" y="1851199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Phase 1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16595" y="2100858"/>
            <a:ext cx="3834929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Clarke-Wright Greedy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266825"/>
            <a:ext cx="4075881" cy="4819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92476" y="1851199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Phase 2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692476" y="2100858"/>
            <a:ext cx="3834929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ALNS + Simulated Annealing — 280s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399630"/>
            <a:ext cx="4075881" cy="4819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6595" y="2984004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Phase 3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616595" y="3233663"/>
            <a:ext cx="3834929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Set Packing Problem (Gurobi) — 30s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399630"/>
            <a:ext cx="4075881" cy="4819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92476" y="2984004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Phase 4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4692476" y="3233663"/>
            <a:ext cx="3834929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Final Polish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496119" y="3686026"/>
            <a:ext cx="2564457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Problem-Specific Strategies: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496119" y="4065538"/>
            <a:ext cx="8151763" cy="392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P1: No Mandatory Nodes → seed=16</a:t>
            </a:r>
            <a:endParaRPr lang="en-US" sz="90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P2: 24 Mandatory Nodes → seed=15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496119" y="4573116"/>
            <a:ext cx="8608963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Each problem runs the full pipeline independently with optimized parameters.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4939"/>
            <a:ext cx="7236916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Greedy Initialisation + ALNS Destroy-and-Repair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205657"/>
            <a:ext cx="2616250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Phase 1: Clarke-Wright Savings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96119" y="1543943"/>
            <a:ext cx="3911575" cy="1649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Single-node routes for all feasible customers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Savings score: </a:t>
            </a:r>
          </a:p>
          <a:p>
            <a:pPr algn="l">
              <a:lnSpc>
                <a:spcPct val="130000"/>
              </a:lnSpc>
              <a:buSzPct val="100000"/>
            </a:pPr>
            <a:endParaRPr lang="en-US" sz="1050" dirty="0">
              <a:solidFill>
                <a:srgbClr val="4C4C4D"/>
              </a:solidFill>
              <a:latin typeface="Heebo" pitchFamily="34" charset="0"/>
              <a:ea typeface="Heebo" pitchFamily="34" charset="-122"/>
              <a:cs typeface="Heebo" pitchFamily="34" charset="-120"/>
            </a:endParaRPr>
          </a:p>
          <a:p>
            <a:pPr algn="l">
              <a:lnSpc>
                <a:spcPct val="130000"/>
              </a:lnSpc>
              <a:buSzPct val="100000"/>
            </a:pPr>
            <a:endParaRPr lang="en-US" sz="1050" dirty="0">
              <a:solidFill>
                <a:srgbClr val="4C4C4D"/>
              </a:solidFill>
              <a:latin typeface="Heebo" pitchFamily="34" charset="0"/>
              <a:ea typeface="Heebo" pitchFamily="34" charset="-122"/>
              <a:cs typeface="Heebo" pitchFamily="34" charset="-120"/>
            </a:endParaRPr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Greedy merging by score; keep top K=5 routes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Cheapest-insertion fill to exploit remaining capacity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P2: mandatory nodes placed first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741069" y="1205657"/>
            <a:ext cx="284112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Phase 2: ALNS Loop (280 seconds)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41069" y="1543943"/>
            <a:ext cx="4368775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Each iteration: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41069" y="1869132"/>
            <a:ext cx="3911575" cy="190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Select 1 of 7 destroy operators via roulette wheel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Font typeface="+mj-lt"/>
              <a:buAutoNum type="arabicPeriod" startAt="2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Remove q nodes from current solution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Font typeface="+mj-lt"/>
              <a:buAutoNum type="arabicPeriod" startAt="3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Select 1 of 5 repair operators; reinsert nodes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Font typeface="+mj-lt"/>
              <a:buAutoNum type="arabicPeriod" startAt="4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Apply 2-opt + fill (light local search)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Font typeface="+mj-lt"/>
              <a:buAutoNum type="arabicPeriod" startAt="5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Accept via Simulated Annealing:                    , T decays </a:t>
            </a:r>
            <a:r>
              <a:rPr lang="en-US" sz="10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x0.9997/iter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Font typeface="+mj-lt"/>
              <a:buAutoNum type="arabicPeriod" startAt="6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Every 300 iters: update operator weights toward productive ones             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41069" y="3818037"/>
            <a:ext cx="4368775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ct val="130000"/>
              </a:lnSpc>
              <a:buSzPct val="100000"/>
              <a:buChar char="◦"/>
            </a:pPr>
            <a:r>
              <a:rPr lang="en-US" sz="1050" dirty="0"/>
              <a:t> </a:t>
            </a:r>
          </a:p>
        </p:txBody>
      </p:sp>
      <p:sp>
        <p:nvSpPr>
          <p:cNvPr id="9" name="Text 7"/>
          <p:cNvSpPr/>
          <p:nvPr/>
        </p:nvSpPr>
        <p:spPr>
          <a:xfrm>
            <a:off x="4741069" y="4143226"/>
            <a:ext cx="3911575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Weights steer search toward operators currently finding improvements — the algorithm learns on the fly.</a:t>
            </a:r>
            <a:endParaRPr lang="en-US" sz="10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BB59E1-420A-F99A-E60D-3C042C734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91" y="1931789"/>
            <a:ext cx="3583209" cy="4264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11D517-BD7C-FE4D-FB6B-BD21C6A22A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0000"/>
          <a:stretch>
            <a:fillRect/>
          </a:stretch>
        </p:blipFill>
        <p:spPr>
          <a:xfrm>
            <a:off x="7039197" y="2685999"/>
            <a:ext cx="543001" cy="2000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0B915B1-4B7E-4195-7E6E-F6745E0B73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9309" y="3828137"/>
            <a:ext cx="3455712" cy="2194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406152"/>
            <a:ext cx="5682928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Phase 3 — Set Packing Problem via Branch-and-Cut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57349" y="847948"/>
            <a:ext cx="8229302" cy="265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What the pool is:</a:t>
            </a: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Throughout the ALNS, every improving solution adds its routes to a shared pool (up to 50,000 unique routes). The pool captures high-quality routes from every phase of the search.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349" y="1214810"/>
            <a:ext cx="2147218" cy="183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Mathematical Formulation: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349" y="1500262"/>
            <a:ext cx="8229302" cy="847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endParaRPr lang="en-US" sz="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49" y="1500262"/>
            <a:ext cx="8229302" cy="8479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349" y="2433935"/>
            <a:ext cx="8686502" cy="132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Gurobi solves this via LP relaxation → clique cuts on the conflict graph → branch-and-cut on fractional z_r variables. Time limit: 30 seconds.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57349" y="2668191"/>
            <a:ext cx="1927473" cy="183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Timeline: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349" y="2953643"/>
            <a:ext cx="4114651" cy="39201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5352" y="3413373"/>
            <a:ext cx="1443930" cy="153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ALNS running → pool grows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953643"/>
            <a:ext cx="4114651" cy="39201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70003" y="3413373"/>
            <a:ext cx="3918645" cy="306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T_min reached mid-run → SPP fires → temperature reheats → ALNS continues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349" y="3817665"/>
            <a:ext cx="4114651" cy="39201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5352" y="4277395"/>
            <a:ext cx="1758107" cy="153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ALNS ends → final SPP on full pool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3817665"/>
            <a:ext cx="4114651" cy="39201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70003" y="4277395"/>
            <a:ext cx="1225228" cy="153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Polish</a:t>
            </a:r>
            <a:endParaRPr lang="en-US" sz="950" dirty="0"/>
          </a:p>
        </p:txBody>
      </p:sp>
      <p:sp>
        <p:nvSpPr>
          <p:cNvPr id="17" name="Text 10"/>
          <p:cNvSpPr/>
          <p:nvPr/>
        </p:nvSpPr>
        <p:spPr>
          <a:xfrm>
            <a:off x="457349" y="4604742"/>
            <a:ext cx="8686502" cy="132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SPP recombines routes from different phases — something the ALNS alone can never do.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38140" y="675456"/>
            <a:ext cx="343912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Critical Parameters and Tuning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496119" y="1149251"/>
            <a:ext cx="8151763" cy="7441"/>
          </a:xfrm>
          <a:prstGeom prst="rect">
            <a:avLst/>
          </a:prstGeom>
          <a:solidFill>
            <a:srgbClr val="4C4C4D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96119" y="1285652"/>
            <a:ext cx="4873972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TUNED INDEPENDENTLY PER PROBLEM VIA OPTUNA (TPE SAMPLER)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96119" y="1575867"/>
            <a:ext cx="8151763" cy="2330946"/>
          </a:xfrm>
          <a:prstGeom prst="roundRect">
            <a:avLst>
              <a:gd name="adj" fmla="val 63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0149" y="1627063"/>
            <a:ext cx="269907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Parameter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045172" y="1627063"/>
            <a:ext cx="310381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Problem 1 (No Mandatory)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894933" y="1627063"/>
            <a:ext cx="310619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Problem 2 (24 Mandatory)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00149" y="1859682"/>
            <a:ext cx="269907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Seed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045172" y="1859682"/>
            <a:ext cx="310381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16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894933" y="1859682"/>
            <a:ext cx="310619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00149" y="2092300"/>
            <a:ext cx="269907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COOLING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045172" y="2092300"/>
            <a:ext cx="310381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0.999188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894933" y="2092300"/>
            <a:ext cx="310619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0.999574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00149" y="2324919"/>
            <a:ext cx="269907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T0_FRAC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045172" y="2324919"/>
            <a:ext cx="310381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0.051659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894933" y="2324919"/>
            <a:ext cx="310619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0.094243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00149" y="2557537"/>
            <a:ext cx="269907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SEGMENT_SIZE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045172" y="2557537"/>
            <a:ext cx="310381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300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894933" y="2557537"/>
            <a:ext cx="310619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600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00149" y="2790155"/>
            <a:ext cx="269907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REACT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045172" y="2790155"/>
            <a:ext cx="310381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0.163320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894933" y="2790155"/>
            <a:ext cx="310619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0.209976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00149" y="3022774"/>
            <a:ext cx="269907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BETA_MAX_FRAC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045172" y="3022774"/>
            <a:ext cx="310381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0.192933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894933" y="3022774"/>
            <a:ext cx="310619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0.175359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00149" y="3255392"/>
            <a:ext cx="269907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SCORE_BEST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045172" y="3255392"/>
            <a:ext cx="310381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894933" y="3255392"/>
            <a:ext cx="310619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11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00149" y="3488010"/>
            <a:ext cx="269907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SCORE_BETTER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045172" y="3488010"/>
            <a:ext cx="310381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894933" y="3488010"/>
            <a:ext cx="310619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00149" y="3720629"/>
            <a:ext cx="269907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SCORE_ACCEPT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045172" y="3720629"/>
            <a:ext cx="3103811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894933" y="3720629"/>
            <a:ext cx="310619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96119" y="3984947"/>
            <a:ext cx="8151763" cy="483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Insight:</a:t>
            </a:r>
            <a:endParaRPr lang="en-US" sz="7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P1 and P2 have structurally different search landscapes. P2 requires slower cooling (0.999574 vs 0.999188) and larger segment size (600 vs 300) to navigate the harder mandatory-node constrained space. Seed selection confirmed via exhaustive scan over {4, 8, 15, 16, 23, 42}.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8476"/>
            <a:ext cx="5246266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Results: HALNS vs Greedy Baseline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496119" y="1105198"/>
            <a:ext cx="8151763" cy="2271564"/>
          </a:xfrm>
          <a:prstGeom prst="roundRect">
            <a:avLst>
              <a:gd name="adj" fmla="val 88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36389" y="1191444"/>
            <a:ext cx="2899097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Metric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352279" y="1191444"/>
            <a:ext cx="2896716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Problem 1 — No Mandatory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65788" y="1191444"/>
            <a:ext cx="2899097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Problem 2 — 24 Mandatory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6389" y="1569244"/>
            <a:ext cx="2899097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Greedy profit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52279" y="1569244"/>
            <a:ext cx="2896716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7,048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65788" y="1569244"/>
            <a:ext cx="2899097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5,167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6389" y="1947044"/>
            <a:ext cx="2899097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HALNS final profit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52279" y="1947044"/>
            <a:ext cx="2896716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8,579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65788" y="1947044"/>
            <a:ext cx="2899097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7,678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6389" y="2324844"/>
            <a:ext cx="2899097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Improvement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52279" y="2324844"/>
            <a:ext cx="2896716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8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+21.7%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65788" y="2324844"/>
            <a:ext cx="2899097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8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+48.5%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6389" y="2702644"/>
            <a:ext cx="2899097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 routes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52279" y="2702644"/>
            <a:ext cx="2896716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130/130 capacity (×5)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65788" y="2702644"/>
            <a:ext cx="2899097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130/130 capacity (×5)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6389" y="3080445"/>
            <a:ext cx="2899097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Bottleneck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52279" y="3080445"/>
            <a:ext cx="2896716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Capacity (not time)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65788" y="3080445"/>
            <a:ext cx="2899097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Capacity (not time)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6119" y="3520678"/>
            <a:ext cx="8151763" cy="1194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      The Hybrid Adaptive Large Neighbourhood Search (HALNS) algorithm demonstrates significant improvements over the Greedy baseline, achieving a final profit of 8,579 for Problem 1 and 7,678 for Problem 2. This represents a </a:t>
            </a:r>
            <a:r>
              <a:rPr lang="en-US" sz="1050" dirty="0">
                <a:solidFill>
                  <a:srgbClr val="008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21.7%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improvement for Problem 1 and a substantial </a:t>
            </a:r>
            <a:r>
              <a:rPr lang="en-US" sz="1050" dirty="0">
                <a:solidFill>
                  <a:srgbClr val="008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48.5%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improvement for Problem 2.     </a:t>
            </a:r>
            <a:endParaRPr lang="en-US" sz="10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      </a:t>
            </a:r>
            <a:r>
              <a:rPr lang="en-US" sz="10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Insight:</a:t>
            </a: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All 5 routes are capacity-maxed in both problems. Most routes have 50–200 time units spare. The binding constraint is capacity, not time.     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402878"/>
            <a:ext cx="6766620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HALNS: Hybrid Adaptive Large Neighbourhood Search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65162" y="935831"/>
            <a:ext cx="8670875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Algorithm: Based on Hammami (2024), Expert Systems With Applications.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65162" y="1233190"/>
            <a:ext cx="3281437" cy="282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Three integrated components: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65162" y="1650578"/>
            <a:ext cx="2677864" cy="2826395"/>
          </a:xfrm>
          <a:prstGeom prst="roundRect">
            <a:avLst>
              <a:gd name="adj" fmla="val 633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9450" y="1664866"/>
            <a:ext cx="2649289" cy="338882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19337" y="1728415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2410" y="2093714"/>
            <a:ext cx="2092970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ADAPTIVE LNS (core search engine)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2410" y="2324174"/>
            <a:ext cx="2423368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Iteratively destroys and repairs the current solution using operator pools.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92410" y="2702868"/>
            <a:ext cx="2423368" cy="155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 destroy operators: random, worst, related, cluster, low-profit, route-strip, Shaw removal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 repair operators: greedy, regret-2, random-greedy, fill-unvisited, greedy-time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Operator weights start equal and update every segment via score-based roulette-wheel rule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Operators that find improvements earn higher weights and are called more often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32993" y="1650578"/>
            <a:ext cx="2677939" cy="2826395"/>
          </a:xfrm>
          <a:prstGeom prst="roundRect">
            <a:avLst>
              <a:gd name="adj" fmla="val 633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47281" y="1664866"/>
            <a:ext cx="2649364" cy="338882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87242" y="1728415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60241" y="2093714"/>
            <a:ext cx="2423443" cy="35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SIMULATED ANNEALING (acceptance criterion)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60241" y="2500685"/>
            <a:ext cx="2423443" cy="1749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New solutions better than best: always accepted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New solutions better than current: always accepted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Worse solutions: accepted with probability exp(−Δ/T)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Temperature decays geometrically each iteration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 T early = broad exploration | Low T late = pure exploitation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00899" y="1650578"/>
            <a:ext cx="2677939" cy="2826395"/>
          </a:xfrm>
          <a:prstGeom prst="roundRect">
            <a:avLst>
              <a:gd name="adj" fmla="val 633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15186" y="1664866"/>
            <a:ext cx="2649364" cy="338882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55148" y="1728415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8147" y="2093714"/>
            <a:ext cx="2423443" cy="35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SET PACKING PROBLEM via Gurobi (post-optimisation)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8147" y="2500685"/>
            <a:ext cx="2423443" cy="1849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Throughout the search, every improving solution deposits its routes into a shared pool</a:t>
            </a:r>
            <a:endParaRPr lang="el-GR" sz="850" dirty="0">
              <a:solidFill>
                <a:srgbClr val="4C4C4D"/>
              </a:solidFill>
              <a:latin typeface="Heebo" pitchFamily="34" charset="0"/>
              <a:ea typeface="Heebo" pitchFamily="34" charset="-122"/>
              <a:cs typeface="Heebo" pitchFamily="34" charset="-120"/>
            </a:endParaRPr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cs typeface="Heebo" pitchFamily="34" charset="-120"/>
              </a:rPr>
              <a:t>When </a:t>
            </a:r>
            <a:r>
              <a:rPr lang="en-US" sz="850" dirty="0" err="1">
                <a:solidFill>
                  <a:srgbClr val="4C4C4D"/>
                </a:solidFill>
                <a:latin typeface="Heebo" pitchFamily="34" charset="0"/>
                <a:cs typeface="Heebo" pitchFamily="34" charset="-120"/>
              </a:rPr>
              <a:t>T_min</a:t>
            </a:r>
            <a:r>
              <a:rPr lang="en-US" sz="850" dirty="0">
                <a:solidFill>
                  <a:srgbClr val="4C4C4D"/>
                </a:solidFill>
                <a:latin typeface="Heebo" pitchFamily="34" charset="0"/>
                <a:cs typeface="Heebo" pitchFamily="34" charset="-120"/>
              </a:rPr>
              <a:t> is reached </a:t>
            </a:r>
            <a:r>
              <a:rPr lang="en-US" sz="850" dirty="0" err="1">
                <a:solidFill>
                  <a:srgbClr val="4C4C4D"/>
                </a:solidFill>
                <a:latin typeface="Heebo" pitchFamily="34" charset="0"/>
                <a:cs typeface="Heebo" pitchFamily="34" charset="-120"/>
              </a:rPr>
              <a:t>Gurobi</a:t>
            </a:r>
            <a:r>
              <a:rPr lang="en-US" sz="850" dirty="0">
                <a:solidFill>
                  <a:srgbClr val="4C4C4D"/>
                </a:solidFill>
                <a:latin typeface="Heebo" pitchFamily="34" charset="0"/>
                <a:cs typeface="Heebo" pitchFamily="34" charset="-120"/>
              </a:rPr>
              <a:t> solves the SPP problem so far and then reheats the temperature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At the end, Gurobi solves a Binary Integer Program: select at most </a:t>
            </a:r>
            <a:r>
              <a:rPr lang="el-GR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</a:t>
            </a: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non-overlapping routes from the pool that maximise total profit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lets Gurobi combine the best route found at iteration 3,000 with the best route found at iteration 20,000 — something ALNS alone cannot do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5162" y="4578176"/>
            <a:ext cx="8670875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Greedy initialisation: Clarke-Wright Savings for P1. Mandatory-First Cheapest Insertion for P2.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4591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0640" y="1938486"/>
            <a:ext cx="5407447" cy="364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Challenges and How We Overcame Them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480640" y="2447404"/>
            <a:ext cx="2663503" cy="2216721"/>
          </a:xfrm>
          <a:prstGeom prst="roundRect">
            <a:avLst>
              <a:gd name="adj" fmla="val 3094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66353" y="2447404"/>
            <a:ext cx="57150" cy="2216721"/>
          </a:xfrm>
          <a:prstGeom prst="roundRect">
            <a:avLst>
              <a:gd name="adj" fmla="val 30640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54472" y="2578373"/>
            <a:ext cx="1946077" cy="182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Challenge 1: Mandatory nodes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4472" y="2818433"/>
            <a:ext cx="2358703" cy="1532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 24 mandatory nodes must appear in every valid solution. This constraint was threaded through every component: destroy operators never remove mandatory nodes; repair operators reinsert them first before optional nodes; local search never ejects them during swaps; feasibility is explicitly verified after every ALNS iteration. Infeasible iterations are discarded without scoring.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40212" y="2447404"/>
            <a:ext cx="2663503" cy="2216721"/>
          </a:xfrm>
          <a:prstGeom prst="roundRect">
            <a:avLst>
              <a:gd name="adj" fmla="val 3094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225924" y="2447404"/>
            <a:ext cx="57150" cy="2216721"/>
          </a:xfrm>
          <a:prstGeom prst="roundRect">
            <a:avLst>
              <a:gd name="adj" fmla="val 30640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414043" y="2578373"/>
            <a:ext cx="2358703" cy="364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Challenge 2: SA temperature calibration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414043" y="3000821"/>
            <a:ext cx="2358703" cy="1532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With ~25,000 iterations in 290s, the temperature decays by a factor of ~0.001 from its starting value, never reaching T_MIN. The mid-run SPP reheat (designed to fire at T_MIN) was therefore unreachable. Attempts to replace it with a time-based reheat (at 45% and 75% of budget) disrupted the thermal schedule and worsened results. We reverted to the clean single-cooling-arc schedule.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99783" y="2447404"/>
            <a:ext cx="2663503" cy="2216721"/>
          </a:xfrm>
          <a:prstGeom prst="roundRect">
            <a:avLst>
              <a:gd name="adj" fmla="val 3094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985495" y="2447404"/>
            <a:ext cx="57150" cy="2216721"/>
          </a:xfrm>
          <a:prstGeom prst="roundRect">
            <a:avLst>
              <a:gd name="adj" fmla="val 30640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173614" y="2578373"/>
            <a:ext cx="1979265" cy="182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Challenge 3: PP pool diversity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73614" y="2818433"/>
            <a:ext cx="2358703" cy="1191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With a single ALNS run, the route pool contains variations of the same solution topology. Gurobi's SPP found solutions 14–21% below the ALNS best, because the pool lacked structurally diverse routes. The code correctly falls back to the ALNS best when SPP does not improve it.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3353"/>
            <a:ext cx="3987478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Approaches Tried That Did Not Work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3925119" y="771153"/>
            <a:ext cx="4722763" cy="626343"/>
          </a:xfrm>
          <a:prstGeom prst="roundRect">
            <a:avLst>
              <a:gd name="adj" fmla="val 2207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3934644" y="780678"/>
            <a:ext cx="368573" cy="607293"/>
          </a:xfrm>
          <a:prstGeom prst="roundRect">
            <a:avLst>
              <a:gd name="adj" fmla="val 64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049837" y="997967"/>
            <a:ext cx="138187" cy="1727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363045" y="872803"/>
            <a:ext cx="1151855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Path Relinking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363045" y="1052661"/>
            <a:ext cx="4183187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Implemented over an elite pool of 10 solutions, building solution paths between pairs. No improvement over the ALNS best (P1 stayed at 8577). Discarded.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3925119" y="1457325"/>
            <a:ext cx="4722763" cy="869528"/>
          </a:xfrm>
          <a:prstGeom prst="roundRect">
            <a:avLst>
              <a:gd name="adj" fmla="val 1590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934644" y="1466850"/>
            <a:ext cx="368573" cy="850478"/>
          </a:xfrm>
          <a:prstGeom prst="roundRect">
            <a:avLst>
              <a:gd name="adj" fmla="val 64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049837" y="1805732"/>
            <a:ext cx="138187" cy="1727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363045" y="1558975"/>
            <a:ext cx="1647304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Multi-seed ALNS with split budget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363045" y="1738833"/>
            <a:ext cx="4183187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Ran 3 seeds in parallel (P1: [4,8,23], P2: [15,16,42]) dividing 290s into ~87s per seed and merging the pools for ILP. Result: P1=8569 (−8 vs single-seed), P2=7530 (−57 vs single-seed). Despite a 3× larger pool (12,535 vs 4,007 unique routes), each ALNS run converged less because of insufficient time. Discarded.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3925119" y="2386682"/>
            <a:ext cx="4722763" cy="747936"/>
          </a:xfrm>
          <a:prstGeom prst="roundRect">
            <a:avLst>
              <a:gd name="adj" fmla="val 1848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934644" y="2396207"/>
            <a:ext cx="368573" cy="728886"/>
          </a:xfrm>
          <a:prstGeom prst="roundRect">
            <a:avLst>
              <a:gd name="adj" fmla="val 64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049837" y="2674293"/>
            <a:ext cx="138187" cy="1727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363045" y="2488332"/>
            <a:ext cx="1550566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Iterated ALNS with perturbation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363045" y="2668191"/>
            <a:ext cx="4183187" cy="364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Ran ALNS for TIME_LIMIT/2, removed 50% of customers, restarted from the disrupted solution (inspired by Iterated Local Search). Best result at 60s: 8468, never surpassed the single-seed 290s run. Discarded.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3925119" y="3194447"/>
            <a:ext cx="4722763" cy="626343"/>
          </a:xfrm>
          <a:prstGeom prst="roundRect">
            <a:avLst>
              <a:gd name="adj" fmla="val 2207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934644" y="3203972"/>
            <a:ext cx="368573" cy="607293"/>
          </a:xfrm>
          <a:prstGeom prst="roundRect">
            <a:avLst>
              <a:gd name="adj" fmla="val 64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049837" y="3421261"/>
            <a:ext cx="138187" cy="1727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363045" y="3296096"/>
            <a:ext cx="2307580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Biased Random-Key Genetic Algorithm (BRKGA)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363045" y="3475955"/>
            <a:ext cx="4183187" cy="243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Population 200, biased crossover, greedy decoder. The decoder was structurally simpler than a single ALNS repair step; theoretical analysis predicted ~8000–8400 for P1. Not implemented.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3925119" y="3880619"/>
            <a:ext cx="4722763" cy="869528"/>
          </a:xfrm>
          <a:prstGeom prst="roundRect">
            <a:avLst>
              <a:gd name="adj" fmla="val 1590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3934644" y="3890144"/>
            <a:ext cx="368573" cy="850478"/>
          </a:xfrm>
          <a:prstGeom prst="roundRect">
            <a:avLst>
              <a:gd name="adj" fmla="val 64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049837" y="4229026"/>
            <a:ext cx="138187" cy="1727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363045" y="3982269"/>
            <a:ext cx="2182118" cy="1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Stagnation perturbation + time-based reheats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363045" y="4162127"/>
            <a:ext cx="4183187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Added a counter that triggered a 35% random removal after 2000 consecutive non-improving iterations, combined with SPP reheats at 45% and 75% of the time budget. Result: P1 dropped from 8570 to 8547, P2 from 7654 to 7552. The perturbation fired every ~20s at ~100 iters/s, fragmenting the run. Reverted.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6834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082329"/>
            <a:ext cx="3824139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Results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496119" y="2823046"/>
            <a:ext cx="2861518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Problem 1: No mandatory nodes: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96119" y="3161333"/>
            <a:ext cx="3911575" cy="974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Greedy initial profit: 7,048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Final HALNS profit: 8,579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Improvement: +21.7%</a:t>
            </a:r>
            <a:endParaRPr lang="en-US" sz="1050" dirty="0"/>
          </a:p>
          <a:p>
            <a:pPr algn="l">
              <a:lnSpc>
                <a:spcPct val="130000"/>
              </a:lnSpc>
              <a:buSzPct val="100000"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741069" y="2823046"/>
            <a:ext cx="3434655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Problem 2: Mandatory nodes (24 nodes):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41069" y="3161333"/>
            <a:ext cx="3911575" cy="974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Greedy initial profit: 5,167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Final HALNS profit: 7,678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Improvement: +48.5%</a:t>
            </a:r>
            <a:endParaRPr lang="en-US" sz="1050" dirty="0"/>
          </a:p>
          <a:p>
            <a:pPr algn="l">
              <a:lnSpc>
                <a:spcPct val="130000"/>
              </a:lnSpc>
              <a:buSzPct val="100000"/>
            </a:pP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96119" y="4324424"/>
            <a:ext cx="8151763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Both solutions were validated against all constraints (vehicle capacity, route duration, mandatory coverage). The Gurobi ILP post-step ran for 10 seconds on the accumulated route pool.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7108"/>
            <a:ext cx="4833938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Problem 1 (No Mandatory Nodes)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74" y="932075"/>
            <a:ext cx="8129252" cy="40345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01910"/>
            <a:ext cx="4598640" cy="4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Problem 2 (Mandatory Nodes)</a:t>
            </a:r>
            <a:endParaRPr lang="en-US" sz="2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7FE09C-547B-0576-AE34-E678A0D28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64" y="949816"/>
            <a:ext cx="8285871" cy="40644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510805" y="1074316"/>
            <a:ext cx="389371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Thank You. Questions?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2925738" y="1574006"/>
            <a:ext cx="30639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Final Results: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96119" y="2211809"/>
            <a:ext cx="3987254" cy="374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8,579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1603697" y="276321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Problem 1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96119" y="3069729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profit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660553" y="2211809"/>
            <a:ext cx="3987329" cy="374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7,678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5768206" y="276321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Problem 2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660553" y="3069729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profit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6119" y="3456012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Team: Georgios Moschovis, Odysseas Kerasaridis, Andreas Nikolaos Kyprianou</a:t>
            </a:r>
            <a:endParaRPr lang="en-US" sz="11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AUEB  | Operations Research &amp; Computational Intelligence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7513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References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401639"/>
            <a:ext cx="8151763" cy="1066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Hammami, F. (2024). An efficient hybrid adaptive large neighborhood search method for the capacitated team orienteering problem. Expert Systems With Applications, 249, 123561. </a:t>
            </a:r>
            <a:r>
              <a:rPr lang="en-US" sz="1100" u="sng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https://doi.org/10.1016/j.eswa.2024.123561</a:t>
            </a:r>
            <a:endParaRPr lang="en-US" sz="1100" u="sng" dirty="0">
              <a:solidFill>
                <a:srgbClr val="2150FE"/>
              </a:solidFill>
              <a:latin typeface="Heebo" pitchFamily="34" charset="0"/>
              <a:ea typeface="Heebo" pitchFamily="34" charset="-122"/>
              <a:cs typeface="Heebo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100" u="sng" dirty="0">
              <a:solidFill>
                <a:srgbClr val="2150FE"/>
              </a:solidFill>
              <a:latin typeface="Heebo" pitchFamily="34" charset="0"/>
              <a:ea typeface="Heebo" pitchFamily="34" charset="-122"/>
              <a:cs typeface="Heebo" pitchFamily="34" charset="-120"/>
            </a:endParaRPr>
          </a:p>
          <a:p>
            <a:pPr>
              <a:lnSpc>
                <a:spcPct val="133000"/>
              </a:lnSpc>
            </a:pPr>
            <a:r>
              <a:rPr lang="en-US" sz="1100" u="sng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  <a:hlinkClick r:id="rId4"/>
              </a:rPr>
              <a:t>https://github.com/okerasar/CTOP-Problem</a:t>
            </a:r>
            <a:endParaRPr lang="en-US" sz="1100" u="sng" dirty="0">
              <a:solidFill>
                <a:srgbClr val="2150FE"/>
              </a:solidFill>
              <a:latin typeface="Heebo" pitchFamily="34" charset="0"/>
              <a:ea typeface="Heebo" pitchFamily="34" charset="-122"/>
              <a:cs typeface="Heebo" pitchFamily="34" charset="-120"/>
            </a:endParaRPr>
          </a:p>
          <a:p>
            <a:pPr>
              <a:lnSpc>
                <a:spcPct val="133000"/>
              </a:lnSpc>
            </a:pPr>
            <a:endParaRPr lang="en-US" sz="1100" u="sng" dirty="0">
              <a:solidFill>
                <a:srgbClr val="2150FE"/>
              </a:solidFill>
              <a:latin typeface="Heebo" pitchFamily="34" charset="0"/>
              <a:ea typeface="Heebo" pitchFamily="34" charset="-122"/>
              <a:cs typeface="Heebo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1548</Words>
  <Application>Microsoft Office PowerPoint</Application>
  <PresentationFormat>On-screen Show (16:9)</PresentationFormat>
  <Paragraphs>189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Heebo</vt:lpstr>
      <vt:lpstr>Crimson Pro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george moschovis</cp:lastModifiedBy>
  <cp:revision>8</cp:revision>
  <dcterms:created xsi:type="dcterms:W3CDTF">2026-05-25T19:02:31Z</dcterms:created>
  <dcterms:modified xsi:type="dcterms:W3CDTF">2026-05-25T20:32:30Z</dcterms:modified>
</cp:coreProperties>
</file>